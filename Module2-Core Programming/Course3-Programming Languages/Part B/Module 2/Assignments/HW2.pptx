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"/>
  </p:notesMasterIdLst>
  <p:handoutMasterIdLst>
    <p:handoutMasterId r:id="rId7"/>
  </p:handoutMasterIdLst>
  <p:sldIdLst>
    <p:sldId id="256" r:id="rId2"/>
    <p:sldId id="259" r:id="rId3"/>
    <p:sldId id="257" r:id="rId4"/>
    <p:sldId id="258" r:id="rId5"/>
  </p:sldIdLst>
  <p:sldSz cx="9144000" cy="6858000" type="screen4x3"/>
  <p:notesSz cx="6934200" cy="9220200"/>
  <p:custDataLst>
    <p:tags r:id="rId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08" autoAdjust="0"/>
  </p:normalViewPr>
  <p:slideViewPr>
    <p:cSldViewPr>
      <p:cViewPr varScale="1">
        <p:scale>
          <a:sx n="104" d="100"/>
          <a:sy n="104" d="100"/>
        </p:scale>
        <p:origin x="-69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05121" cy="460400"/>
          </a:xfrm>
          <a:prstGeom prst="rect">
            <a:avLst/>
          </a:prstGeom>
        </p:spPr>
        <p:txBody>
          <a:bodyPr vert="horz" lIns="87316" tIns="43658" rIns="87316" bIns="43658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574" y="1"/>
            <a:ext cx="3005121" cy="460400"/>
          </a:xfrm>
          <a:prstGeom prst="rect">
            <a:avLst/>
          </a:prstGeom>
        </p:spPr>
        <p:txBody>
          <a:bodyPr vert="horz" lIns="87316" tIns="43658" rIns="87316" bIns="43658" rtlCol="0"/>
          <a:lstStyle>
            <a:lvl1pPr algn="r">
              <a:defRPr sz="1100"/>
            </a:lvl1pPr>
          </a:lstStyle>
          <a:p>
            <a:fld id="{82884B81-6372-4314-A9FF-3FEEA5BA7FD8}" type="datetimeFigureOut">
              <a:rPr lang="en-US" smtClean="0"/>
              <a:t>7/7/2016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8276"/>
            <a:ext cx="3005121" cy="460400"/>
          </a:xfrm>
          <a:prstGeom prst="rect">
            <a:avLst/>
          </a:prstGeom>
        </p:spPr>
        <p:txBody>
          <a:bodyPr vert="horz" lIns="87316" tIns="43658" rIns="87316" bIns="43658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574" y="8758276"/>
            <a:ext cx="3005121" cy="460400"/>
          </a:xfrm>
          <a:prstGeom prst="rect">
            <a:avLst/>
          </a:prstGeom>
        </p:spPr>
        <p:txBody>
          <a:bodyPr vert="horz" lIns="87316" tIns="43658" rIns="87316" bIns="43658" rtlCol="0" anchor="b"/>
          <a:lstStyle>
            <a:lvl1pPr algn="r">
              <a:defRPr sz="1100"/>
            </a:lvl1pPr>
          </a:lstStyle>
          <a:p>
            <a:fld id="{5FBCB171-D845-4996-B264-125C6B72D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281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775" y="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420" y="4379595"/>
            <a:ext cx="5547360" cy="414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759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775" y="875759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itchFamily="34" charset="0"/>
              </a:defRPr>
            </a:lvl1pPr>
          </a:lstStyle>
          <a:p>
            <a:fld id="{C142CCA2-2949-4325-A78A-A7C3B63D73C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828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C47610-A579-4DD1-AA62-8EA40B23FA17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Jan-Mar 2013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Dan Grossman, Programming Languages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Jan-Mar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Dan Grossman, Programming Languages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883048-0376-4A94-A445-C2F5CD3FC35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Jan-Mar 2013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Dan Grossman, Programming Languages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EA12F5-03B5-4BEE-BF40-7EC1D15EBE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Jan-Mar 2013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Dan Grossman, Programming Languages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FCB40-9664-45B5-BAA8-170CAD35339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Jan-Mar 2013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Dan Grossman, Programming Languages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4D69B1-7287-44D7-BAC9-82A718B312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Jan-Mar 2013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Dan Grossman, Programming Languages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CE0B5-4587-46C9-88FF-288BD15E320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Jan-Mar 2013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Dan Grossman, Programming Languages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D7DB5F-D2ED-41DB-B30F-B019AB82D7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Jan-Mar 2013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Dan Grossman, Programming Languages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2279E5-AC96-4A1A-8381-1C3686D400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Jan-Mar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Dan Grossman, Programming Languages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E115C0-909B-4E1C-9E6E-04B3E91035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Jan-Mar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Dan Grossman, Programming Languages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82AAE3-B489-4A15-89C7-18993943A3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r>
              <a:rPr lang="en-US" smtClean="0"/>
              <a:t>Jan-Mar 2013</a:t>
            </a:r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400800"/>
            <a:ext cx="342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r>
              <a:rPr lang="en-US" smtClean="0"/>
              <a:t>Dan Grossman, Programming Languages</a:t>
            </a:r>
            <a:endParaRPr lang="en-US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3B048AC8-D41E-4C7B-8EE3-A52489AA1F0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/>
  <p:hf hdr="0" dt="0"/>
  <p:txStyles>
    <p:titleStyle>
      <a:lvl1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57600" y="1371600"/>
            <a:ext cx="5181600" cy="1447800"/>
          </a:xfrm>
        </p:spPr>
        <p:txBody>
          <a:bodyPr/>
          <a:lstStyle/>
          <a:p>
            <a:pPr algn="ctr"/>
            <a:r>
              <a:rPr lang="en-US" sz="3200" i="0" dirty="0" smtClean="0"/>
              <a:t>Programming Languages</a:t>
            </a:r>
            <a:br>
              <a:rPr lang="en-US" sz="3200" i="0" dirty="0" smtClean="0"/>
            </a:br>
            <a:r>
              <a:rPr lang="en-US" sz="1500" i="0" dirty="0" smtClean="0"/>
              <a:t/>
            </a:r>
            <a:br>
              <a:rPr lang="en-US" sz="1500" i="0" dirty="0" smtClean="0"/>
            </a:br>
            <a:r>
              <a:rPr lang="en-US" sz="3200" i="0" dirty="0" smtClean="0"/>
              <a:t>Dan Grossman</a:t>
            </a:r>
            <a:br>
              <a:rPr lang="en-US" sz="3200" i="0" dirty="0" smtClean="0"/>
            </a:br>
            <a:endParaRPr lang="en-US" sz="3200" i="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3581400"/>
            <a:ext cx="7239000" cy="1219200"/>
          </a:xfrm>
        </p:spPr>
        <p:txBody>
          <a:bodyPr/>
          <a:lstStyle/>
          <a:p>
            <a:r>
              <a:rPr lang="en-US" sz="2400" dirty="0" smtClean="0"/>
              <a:t>Another Equivalent Structure</a:t>
            </a:r>
            <a:endParaRPr lang="en-US" sz="2400" dirty="0"/>
          </a:p>
        </p:txBody>
      </p:sp>
      <p:pic>
        <p:nvPicPr>
          <p:cNvPr id="1026" name="Picture 2" descr="C:\Users\djg\Desktop\pl_log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303683"/>
            <a:ext cx="2971800" cy="174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interesting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Dan Grossman, Programming Languages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smtClean="0"/>
              <a:t>Given a signature with an abstract type, different structures can:</a:t>
            </a:r>
          </a:p>
          <a:p>
            <a:pPr lvl="1" algn="just"/>
            <a:r>
              <a:rPr lang="en-US" dirty="0" smtClean="0"/>
              <a:t>Have that signature</a:t>
            </a:r>
          </a:p>
          <a:p>
            <a:pPr lvl="1" algn="just"/>
            <a:r>
              <a:rPr lang="en-US" dirty="0" smtClean="0"/>
              <a:t>But implement the abstract type differently</a:t>
            </a:r>
          </a:p>
          <a:p>
            <a:pPr lvl="1" algn="just"/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Such structures might or might not be equivalent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Example (see code):</a:t>
            </a:r>
          </a:p>
          <a:p>
            <a:pPr lvl="1" algn="just"/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type rational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1" algn="just"/>
            <a:r>
              <a:rPr lang="en-US" dirty="0" smtClean="0"/>
              <a:t>Does </a:t>
            </a:r>
            <a:r>
              <a:rPr lang="en-US" i="1" dirty="0" smtClean="0"/>
              <a:t>not</a:t>
            </a:r>
            <a:r>
              <a:rPr lang="en-US" dirty="0" smtClean="0"/>
              <a:t> have signature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RATIONAL_A</a:t>
            </a:r>
            <a:endParaRPr lang="en-US" dirty="0" smtClean="0"/>
          </a:p>
          <a:p>
            <a:pPr lvl="1" algn="just"/>
            <a:r>
              <a:rPr lang="en-US" i="1" dirty="0" smtClean="0"/>
              <a:t>Equivalent</a:t>
            </a:r>
            <a:r>
              <a:rPr lang="en-US" dirty="0" smtClean="0"/>
              <a:t> to both previous examples under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RATIONAL_B</a:t>
            </a:r>
            <a:r>
              <a:rPr lang="en-US" dirty="0" smtClean="0"/>
              <a:t> or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RATIONAL_C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353374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interesting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Dan Grossman, Programming Languages</a:t>
            </a:r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981200"/>
            <a:ext cx="7467600" cy="28956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lnSpc>
                <a:spcPct val="90000"/>
              </a:lnSpc>
              <a:spcBef>
                <a:spcPts val="200"/>
              </a:spcBef>
              <a:defRPr/>
            </a:pPr>
            <a:r>
              <a:rPr lang="en-US" sz="2000" kern="0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structure </a:t>
            </a: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Rational3</a:t>
            </a:r>
            <a:r>
              <a:rPr lang="en-US" sz="2000" kern="0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 </a:t>
            </a:r>
            <a:r>
              <a:rPr lang="en-US" sz="2000" kern="0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= </a:t>
            </a:r>
          </a:p>
          <a:p>
            <a:pPr marL="342900" indent="-342900">
              <a:lnSpc>
                <a:spcPct val="90000"/>
              </a:lnSpc>
              <a:spcBef>
                <a:spcPts val="200"/>
              </a:spcBef>
              <a:defRPr/>
            </a:pPr>
            <a:r>
              <a:rPr lang="en-US" sz="2000" kern="0" dirty="0" err="1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struct</a:t>
            </a:r>
            <a:r>
              <a:rPr lang="en-US" sz="2000" kern="0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 </a:t>
            </a:r>
          </a:p>
          <a:p>
            <a:pPr marL="342900" indent="-342900">
              <a:lnSpc>
                <a:spcPct val="90000"/>
              </a:lnSpc>
              <a:spcBef>
                <a:spcPts val="200"/>
              </a:spcBef>
              <a:defRPr/>
            </a:pPr>
            <a:r>
              <a:rPr lang="en-US" sz="2000" kern="0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type </a:t>
            </a: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rational </a:t>
            </a:r>
            <a:r>
              <a:rPr lang="en-US" sz="2000" kern="0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= </a:t>
            </a:r>
            <a:r>
              <a:rPr lang="en-US" sz="2000" kern="0" dirty="0" err="1" smtClean="0">
                <a:latin typeface="Courier New" pitchFamily="49" charset="0"/>
              </a:rPr>
              <a:t>int</a:t>
            </a:r>
            <a:r>
              <a:rPr lang="en-US" sz="2000" kern="0" dirty="0" smtClean="0">
                <a:latin typeface="Courier New" pitchFamily="49" charset="0"/>
              </a:rPr>
              <a:t> * </a:t>
            </a:r>
            <a:r>
              <a:rPr lang="en-US" sz="2000" kern="0" dirty="0" err="1" smtClean="0">
                <a:latin typeface="Courier New" pitchFamily="49" charset="0"/>
              </a:rPr>
              <a:t>int</a:t>
            </a:r>
            <a:endParaRPr lang="en-US" sz="2000" kern="0" dirty="0" smtClean="0">
              <a:solidFill>
                <a:schemeClr val="accent1">
                  <a:lumMod val="50000"/>
                </a:schemeClr>
              </a:solidFill>
              <a:latin typeface="Courier New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ts val="200"/>
              </a:spcBef>
              <a:defRPr/>
            </a:pPr>
            <a:r>
              <a:rPr lang="en-US" sz="2000" kern="0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exception </a:t>
            </a:r>
            <a:r>
              <a:rPr lang="en-US" sz="2000" kern="0" dirty="0" err="1" smtClean="0">
                <a:solidFill>
                  <a:schemeClr val="accent2"/>
                </a:solidFill>
                <a:latin typeface="Courier New" pitchFamily="49" charset="0"/>
              </a:rPr>
              <a:t>BadFrac</a:t>
            </a:r>
            <a:endParaRPr lang="en-US" sz="2000" kern="0" dirty="0" smtClean="0">
              <a:solidFill>
                <a:schemeClr val="accent2"/>
              </a:solidFill>
              <a:latin typeface="Courier New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ts val="200"/>
              </a:spcBef>
              <a:defRPr/>
            </a:pPr>
            <a:endParaRPr lang="en-US" sz="1000" kern="0" dirty="0" smtClean="0">
              <a:solidFill>
                <a:schemeClr val="accent1">
                  <a:lumMod val="50000"/>
                </a:schemeClr>
              </a:solidFill>
              <a:latin typeface="Courier New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ts val="200"/>
              </a:spcBef>
              <a:defRPr/>
            </a:pPr>
            <a:r>
              <a:rPr lang="en-US" sz="2000" kern="0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fun </a:t>
            </a:r>
            <a:r>
              <a:rPr lang="en-US" sz="2000" kern="0" dirty="0" err="1" smtClean="0">
                <a:solidFill>
                  <a:schemeClr val="accent2"/>
                </a:solidFill>
                <a:latin typeface="Courier New" pitchFamily="49" charset="0"/>
              </a:rPr>
              <a:t>make_frac</a:t>
            </a: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US" sz="2000" kern="0" dirty="0" smtClean="0">
                <a:latin typeface="Courier New" pitchFamily="49" charset="0"/>
              </a:rPr>
              <a:t>(</a:t>
            </a:r>
            <a:r>
              <a:rPr lang="en-US" sz="2000" kern="0" dirty="0" err="1" smtClean="0">
                <a:solidFill>
                  <a:schemeClr val="accent2"/>
                </a:solidFill>
                <a:latin typeface="Courier New" pitchFamily="49" charset="0"/>
              </a:rPr>
              <a:t>x</a:t>
            </a:r>
            <a:r>
              <a:rPr lang="en-US" sz="2000" kern="0" dirty="0" err="1" smtClean="0">
                <a:latin typeface="Courier New" pitchFamily="49" charset="0"/>
              </a:rPr>
              <a:t>,</a:t>
            </a:r>
            <a:r>
              <a:rPr lang="en-US" sz="2000" kern="0" dirty="0" err="1" smtClean="0">
                <a:solidFill>
                  <a:schemeClr val="accent2"/>
                </a:solidFill>
                <a:latin typeface="Courier New" pitchFamily="49" charset="0"/>
              </a:rPr>
              <a:t>y</a:t>
            </a:r>
            <a:r>
              <a:rPr lang="en-US" sz="2000" kern="0" dirty="0" smtClean="0">
                <a:latin typeface="Courier New" pitchFamily="49" charset="0"/>
              </a:rPr>
              <a:t>)</a:t>
            </a: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US" sz="2000" kern="0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= </a:t>
            </a:r>
            <a:r>
              <a:rPr lang="en-US" sz="2000" kern="0" dirty="0" smtClean="0">
                <a:latin typeface="Courier New" pitchFamily="49" charset="0"/>
              </a:rPr>
              <a:t>…</a:t>
            </a:r>
          </a:p>
          <a:p>
            <a:pPr marL="342900" indent="-342900">
              <a:lnSpc>
                <a:spcPct val="90000"/>
              </a:lnSpc>
              <a:spcBef>
                <a:spcPts val="200"/>
              </a:spcBef>
              <a:defRPr/>
            </a:pPr>
            <a:r>
              <a:rPr lang="en-US" sz="2000" kern="0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fun </a:t>
            </a: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Whole </a:t>
            </a:r>
            <a:r>
              <a:rPr lang="en-US" sz="2000" kern="0" dirty="0" err="1" smtClean="0">
                <a:solidFill>
                  <a:schemeClr val="accent2"/>
                </a:solidFill>
                <a:latin typeface="Courier New" pitchFamily="49" charset="0"/>
              </a:rPr>
              <a:t>i</a:t>
            </a: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US" sz="2000" kern="0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= </a:t>
            </a:r>
            <a:r>
              <a:rPr lang="en-US" sz="2000" kern="0" dirty="0" smtClean="0">
                <a:latin typeface="Courier New" pitchFamily="49" charset="0"/>
              </a:rPr>
              <a:t>(i,1) </a:t>
            </a:r>
            <a:r>
              <a:rPr lang="en-US" sz="2000" kern="0" dirty="0">
                <a:solidFill>
                  <a:srgbClr val="7030A0"/>
                </a:solidFill>
                <a:latin typeface="Courier New" pitchFamily="49" charset="0"/>
              </a:rPr>
              <a:t>(* </a:t>
            </a:r>
            <a:r>
              <a:rPr lang="en-US" sz="2000" kern="0" dirty="0" smtClean="0">
                <a:solidFill>
                  <a:srgbClr val="7030A0"/>
                </a:solidFill>
                <a:latin typeface="Courier New" pitchFamily="49" charset="0"/>
              </a:rPr>
              <a:t>needed for RATIONAL_C *)</a:t>
            </a:r>
            <a:r>
              <a:rPr lang="en-US" sz="2000" kern="0" dirty="0" smtClean="0">
                <a:latin typeface="Courier New" pitchFamily="49" charset="0"/>
              </a:rPr>
              <a:t> </a:t>
            </a:r>
          </a:p>
          <a:p>
            <a:pPr marL="342900" indent="-342900">
              <a:lnSpc>
                <a:spcPct val="90000"/>
              </a:lnSpc>
              <a:spcBef>
                <a:spcPts val="200"/>
              </a:spcBef>
              <a:defRPr/>
            </a:pPr>
            <a:r>
              <a:rPr lang="en-US" sz="2000" kern="0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fun </a:t>
            </a: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add </a:t>
            </a:r>
            <a:r>
              <a:rPr lang="en-US" sz="2000" kern="0" dirty="0" smtClean="0">
                <a:latin typeface="Courier New" pitchFamily="49" charset="0"/>
              </a:rPr>
              <a:t>((</a:t>
            </a:r>
            <a:r>
              <a:rPr lang="en-US" sz="2000" kern="0" dirty="0" err="1" smtClean="0">
                <a:solidFill>
                  <a:schemeClr val="accent2"/>
                </a:solidFill>
                <a:latin typeface="Courier New" pitchFamily="49" charset="0"/>
              </a:rPr>
              <a:t>a</a:t>
            </a:r>
            <a:r>
              <a:rPr lang="en-US" sz="2000" kern="0" dirty="0" err="1" smtClean="0">
                <a:latin typeface="Courier New" pitchFamily="49" charset="0"/>
              </a:rPr>
              <a:t>,</a:t>
            </a:r>
            <a:r>
              <a:rPr lang="en-US" sz="2000" kern="0" dirty="0" err="1" smtClean="0">
                <a:solidFill>
                  <a:schemeClr val="accent2"/>
                </a:solidFill>
                <a:latin typeface="Courier New" pitchFamily="49" charset="0"/>
              </a:rPr>
              <a:t>b</a:t>
            </a:r>
            <a:r>
              <a:rPr lang="en-US" sz="2000" kern="0" dirty="0" smtClean="0">
                <a:latin typeface="Courier New" pitchFamily="49" charset="0"/>
              </a:rPr>
              <a:t>)(</a:t>
            </a:r>
            <a:r>
              <a:rPr lang="en-US" sz="2000" kern="0" dirty="0" err="1" smtClean="0">
                <a:solidFill>
                  <a:schemeClr val="accent2"/>
                </a:solidFill>
                <a:latin typeface="Courier New" pitchFamily="49" charset="0"/>
              </a:rPr>
              <a:t>c</a:t>
            </a:r>
            <a:r>
              <a:rPr lang="en-US" sz="2000" kern="0" dirty="0" err="1" smtClean="0">
                <a:latin typeface="Courier New" pitchFamily="49" charset="0"/>
              </a:rPr>
              <a:t>,</a:t>
            </a:r>
            <a:r>
              <a:rPr lang="en-US" sz="2000" kern="0" dirty="0" err="1" smtClean="0">
                <a:solidFill>
                  <a:schemeClr val="accent2"/>
                </a:solidFill>
                <a:latin typeface="Courier New" pitchFamily="49" charset="0"/>
              </a:rPr>
              <a:t>d</a:t>
            </a:r>
            <a:r>
              <a:rPr lang="en-US" sz="2000" kern="0" dirty="0" smtClean="0">
                <a:latin typeface="Courier New" pitchFamily="49" charset="0"/>
              </a:rPr>
              <a:t>))</a:t>
            </a: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US" sz="2000" kern="0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= </a:t>
            </a:r>
            <a:r>
              <a:rPr lang="en-US" sz="2000" kern="0" dirty="0" smtClean="0">
                <a:latin typeface="Courier New" pitchFamily="49" charset="0"/>
              </a:rPr>
              <a:t>(a*</a:t>
            </a:r>
            <a:r>
              <a:rPr lang="en-US" sz="2000" kern="0" dirty="0" err="1" smtClean="0">
                <a:latin typeface="Courier New" pitchFamily="49" charset="0"/>
              </a:rPr>
              <a:t>d+b</a:t>
            </a:r>
            <a:r>
              <a:rPr lang="en-US" sz="2000" kern="0" dirty="0" smtClean="0">
                <a:latin typeface="Courier New" pitchFamily="49" charset="0"/>
              </a:rPr>
              <a:t>*</a:t>
            </a:r>
            <a:r>
              <a:rPr lang="en-US" sz="2000" kern="0" dirty="0" err="1" smtClean="0">
                <a:latin typeface="Courier New" pitchFamily="49" charset="0"/>
              </a:rPr>
              <a:t>c,b</a:t>
            </a:r>
            <a:r>
              <a:rPr lang="en-US" sz="2000" kern="0" dirty="0" smtClean="0">
                <a:latin typeface="Courier New" pitchFamily="49" charset="0"/>
              </a:rPr>
              <a:t>*d)</a:t>
            </a:r>
            <a:endParaRPr lang="en-US" sz="2000" kern="0" dirty="0">
              <a:latin typeface="Courier New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ts val="200"/>
              </a:spcBef>
              <a:defRPr/>
            </a:pPr>
            <a:r>
              <a:rPr lang="en-US" sz="2000" kern="0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fun </a:t>
            </a:r>
            <a:r>
              <a:rPr lang="en-US" sz="2000" kern="0" dirty="0" err="1" smtClean="0">
                <a:solidFill>
                  <a:schemeClr val="accent2"/>
                </a:solidFill>
                <a:latin typeface="Courier New" pitchFamily="49" charset="0"/>
              </a:rPr>
              <a:t>toString</a:t>
            </a: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 r </a:t>
            </a:r>
            <a:r>
              <a:rPr lang="en-US" sz="2000" kern="0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= </a:t>
            </a:r>
            <a:r>
              <a:rPr lang="en-US" sz="2000" kern="0" dirty="0" smtClean="0">
                <a:latin typeface="Courier New" pitchFamily="49" charset="0"/>
              </a:rPr>
              <a:t>… </a:t>
            </a:r>
            <a:r>
              <a:rPr lang="en-US" sz="2000" kern="0" dirty="0" smtClean="0">
                <a:solidFill>
                  <a:srgbClr val="7030A0"/>
                </a:solidFill>
                <a:latin typeface="Courier New" pitchFamily="49" charset="0"/>
              </a:rPr>
              <a:t>(* reduce at last minute *)</a:t>
            </a:r>
            <a:endParaRPr lang="en-US" sz="2000" kern="0" dirty="0">
              <a:solidFill>
                <a:srgbClr val="7030A0"/>
              </a:solidFill>
              <a:latin typeface="Courier New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ts val="200"/>
              </a:spcBef>
              <a:defRPr/>
            </a:pPr>
            <a:r>
              <a:rPr lang="en-US" sz="2000" kern="0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</a:rPr>
              <a:t>end</a:t>
            </a:r>
          </a:p>
          <a:p>
            <a:pPr marL="342900" indent="-342900">
              <a:lnSpc>
                <a:spcPct val="90000"/>
              </a:lnSpc>
              <a:spcBef>
                <a:spcPts val="200"/>
              </a:spcBef>
              <a:defRPr/>
            </a:pPr>
            <a:endParaRPr lang="en-US" sz="1000" kern="0" dirty="0" smtClean="0">
              <a:latin typeface="Courier New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ts val="200"/>
              </a:spcBef>
              <a:defRPr/>
            </a:pPr>
            <a:endParaRPr lang="en-US" sz="2000" kern="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6500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interesting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Internally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make_frac</a:t>
            </a:r>
            <a:r>
              <a:rPr lang="en-US" dirty="0" smtClean="0"/>
              <a:t> has type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*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-&gt;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/>
              <a:t>, but externally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-&gt; rational</a:t>
            </a:r>
          </a:p>
          <a:p>
            <a:pPr lvl="1"/>
            <a:r>
              <a:rPr lang="en-US" dirty="0" smtClean="0"/>
              <a:t>Client cannot tell if we return argument unchanged</a:t>
            </a:r>
          </a:p>
          <a:p>
            <a:pPr lvl="1"/>
            <a:r>
              <a:rPr lang="en-US" dirty="0" smtClean="0"/>
              <a:t>Could give type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rational -&gt; rational</a:t>
            </a:r>
            <a:r>
              <a:rPr lang="en-US" dirty="0" smtClean="0"/>
              <a:t> in signature, but this is awful: makes entire module unusable – why?</a:t>
            </a:r>
          </a:p>
          <a:p>
            <a:pPr lvl="1"/>
            <a:endParaRPr lang="en-US" dirty="0"/>
          </a:p>
          <a:p>
            <a:r>
              <a:rPr lang="en-US" dirty="0" smtClean="0"/>
              <a:t>Internally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Whole</a:t>
            </a:r>
            <a:r>
              <a:rPr lang="en-US" dirty="0" smtClean="0"/>
              <a:t> has </a:t>
            </a:r>
            <a:r>
              <a:rPr lang="en-US" dirty="0"/>
              <a:t>type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'a -&gt;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'a *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/>
              <a:t> but externally 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-&gt; rational</a:t>
            </a:r>
          </a:p>
          <a:p>
            <a:pPr lvl="1"/>
            <a:r>
              <a:rPr lang="en-US" dirty="0" smtClean="0"/>
              <a:t>This matches because we </a:t>
            </a:r>
            <a:r>
              <a:rPr lang="en-US" dirty="0"/>
              <a:t>can specialize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'a</a:t>
            </a:r>
            <a:r>
              <a:rPr lang="en-US" dirty="0" smtClean="0"/>
              <a:t> to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/>
              <a:t> and then abstract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/>
              <a:t>  to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rational</a:t>
            </a:r>
          </a:p>
          <a:p>
            <a:pPr lvl="1"/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Whole</a:t>
            </a:r>
            <a:r>
              <a:rPr lang="en-US" dirty="0" smtClean="0"/>
              <a:t> cannot </a:t>
            </a:r>
            <a:r>
              <a:rPr lang="en-US" dirty="0"/>
              <a:t>have types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'a -&gt;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/>
              <a:t> </a:t>
            </a:r>
            <a:r>
              <a:rPr lang="en-US" dirty="0" smtClean="0"/>
              <a:t>                   or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'a -&gt; rational </a:t>
            </a:r>
            <a:r>
              <a:rPr lang="en-US" dirty="0" smtClean="0">
                <a:latin typeface="+mj-lt"/>
                <a:cs typeface="Courier New" pitchFamily="49" charset="0"/>
              </a:rPr>
              <a:t>(must specialize all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'a </a:t>
            </a:r>
            <a:r>
              <a:rPr lang="en-US" dirty="0" smtClean="0">
                <a:latin typeface="+mj-lt"/>
                <a:cs typeface="Courier New" pitchFamily="49" charset="0"/>
              </a:rPr>
              <a:t>uses)</a:t>
            </a:r>
          </a:p>
          <a:p>
            <a:pPr lvl="1"/>
            <a:r>
              <a:rPr lang="en-US" dirty="0" smtClean="0"/>
              <a:t>Type-checker figures all this out for us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Dan Grossman, Programming Languages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704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25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dan_design_template">
  <a:themeElements>
    <a:clrScheme name="dan_design_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n_design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n_design_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_design_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62755</TotalTime>
  <Words>247</Words>
  <Application>Microsoft Office PowerPoint</Application>
  <PresentationFormat>On-screen Show (4:3)</PresentationFormat>
  <Paragraphs>40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dan_design_template</vt:lpstr>
      <vt:lpstr>Programming Languages  Dan Grossman </vt:lpstr>
      <vt:lpstr>More interesting example</vt:lpstr>
      <vt:lpstr>More interesting example</vt:lpstr>
      <vt:lpstr>Some interesting details</vt:lpstr>
    </vt:vector>
  </TitlesOfParts>
  <Company>UW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Languages &amp;  Software Engineering</dc:title>
  <dc:creator>Dan Grossman</dc:creator>
  <cp:lastModifiedBy>cse</cp:lastModifiedBy>
  <cp:revision>968</cp:revision>
  <cp:lastPrinted>2011-09-27T20:26:28Z</cp:lastPrinted>
  <dcterms:created xsi:type="dcterms:W3CDTF">2009-03-13T20:43:19Z</dcterms:created>
  <dcterms:modified xsi:type="dcterms:W3CDTF">2016-07-07T18:45:43Z</dcterms:modified>
</cp:coreProperties>
</file>